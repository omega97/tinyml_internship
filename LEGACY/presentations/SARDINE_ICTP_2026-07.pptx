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9D3A"/>
    <a:srgbClr val="D4A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7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95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constraint story: we target strong chess on a microcontroller with less RAM than a 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viscerally: total RAM is smaller than a single photo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Cite linrock (1st), Approvers (2nd). Consensus: quantized NNUE + TT-heavy RAM + C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ideas as Kaggle winners, scaled down 25× on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Teacher: Lc0 WDL (expected_reward = W − L). Production training via label_positions.py.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Incremental updates are why NNUE fits MCU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 skeleton is playable on PC; device port follows NNUE production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Method A1 from blueprint. Fast sanity check before expensive cutechess tournaments. Not win-rate vs Sunfish.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Few games → high variance. GIF demos available on request. NNUE d2 still weak until production net + search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honest status: PC pipeline works; device deployment and Elo gate are next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RDINE-logo-dark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33" y="627115"/>
            <a:ext cx="5413343" cy="26190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3575" y="3611880"/>
            <a:ext cx="96343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SARDINE: </a:t>
            </a:r>
            <a:r>
              <a:rPr sz="4000" dirty="0"/>
              <a:t>Chess</a:t>
            </a:r>
            <a:r>
              <a:rPr dirty="0"/>
              <a:t> AI Under Hard Memory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Small Artificial RAM-restricted Deep Intelligent Neural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0138" y="4937760"/>
            <a:ext cx="22012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rPr dirty="0"/>
              <a:t>ICTP </a:t>
            </a:r>
            <a:r>
              <a:rPr sz="1600" dirty="0"/>
              <a:t>Internship</a:t>
            </a:r>
            <a:r>
              <a:rPr dirty="0"/>
              <a:t>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The Hardware Ceiling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600489"/>
              </p:ext>
            </p:extLst>
          </p:nvPr>
        </p:nvGraphicFramePr>
        <p:xfrm>
          <a:off x="502920" y="1422782"/>
          <a:ext cx="1097280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Resource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Wio Terminal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Why it matters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CPU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120 MHz (SAMD51)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Eval latency caps search depth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RAM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192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TT must dominate; accumulators ~16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Flash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512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Weights ~10% after int8 + L1 prune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Move budget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~1 second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Urusov ESP32 baseline ~20 kNps (no NNUE)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Target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≥ 1700 Elo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Dog (ESP32) proves feasibility at ~320 KB RAM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312920" y="4479196"/>
            <a:ext cx="356616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D4A853"/>
                </a:solidFill>
              </a:defRPr>
            </a:pPr>
            <a:r>
              <a:t>192 KB RAM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t>&lt; one JPEG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What the Kaggle Challenge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55885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FIDE &amp; Google Efficient Chess AI — 5 MiB RAM, 64 KiB binary 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5564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NNUE won at the top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Micro int8 nets + king mirroring + geometric zeros beat pure HCE for peak Elo.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5564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RAM = search depth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Winners gutted history/hash tables to free 512 KB–1 MiB for the transposition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5876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Buckets help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2nd place Approvers: 8 output buckets by piece count in ~45 KB net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385876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C over C++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 err="1">
                <a:solidFill>
                  <a:schemeClr val="bg1"/>
                </a:solidFill>
              </a:rPr>
              <a:t>Cfish</a:t>
            </a:r>
            <a:r>
              <a:rPr dirty="0">
                <a:solidFill>
                  <a:schemeClr val="bg1"/>
                </a:solidFill>
              </a:rPr>
              <a:t> base — lower runtime overhead; informs SARDINE's planned C 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1118434"/>
            <a:ext cx="11155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Design </a:t>
            </a:r>
            <a:endParaRPr lang="it-IT" sz="36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Principles </a:t>
            </a:r>
            <a:endParaRPr lang="it-IT" sz="36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We Adopted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222424"/>
              </p:ext>
            </p:extLst>
          </p:nvPr>
        </p:nvGraphicFramePr>
        <p:xfrm>
          <a:off x="4005619" y="12284"/>
          <a:ext cx="8186382" cy="684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4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9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 dirty="0">
                          <a:solidFill>
                            <a:srgbClr val="D4A853"/>
                          </a:solidFill>
                          <a:effectLst>
                            <a:innerShdw blurRad="114300">
                              <a:schemeClr val="accent6">
                                <a:lumMod val="50000"/>
                              </a:schemeClr>
                            </a:innerShdw>
                          </a:effectLst>
                        </a:rPr>
                        <a:t>Principle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 dirty="0">
                          <a:solidFill>
                            <a:srgbClr val="D4A853"/>
                          </a:solidFill>
                          <a:effectLst>
                            <a:innerShdw blurRad="114300">
                              <a:schemeClr val="accent6">
                                <a:lumMod val="50000"/>
                              </a:schemeClr>
                            </a:innerShdw>
                          </a:effectLst>
                        </a:rPr>
                        <a:t>Kaggle (5 MiB)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 dirty="0">
                          <a:solidFill>
                            <a:srgbClr val="D4A853"/>
                          </a:solidFill>
                          <a:effectLst>
                            <a:innerShdw blurRad="114300">
                              <a:schemeClr val="accent6">
                                <a:lumMod val="50000"/>
                              </a:schemeClr>
                            </a:innerShdw>
                          </a:effectLst>
                        </a:rPr>
                        <a:t>SARDINE (192 KB)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99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Eval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Micro NNUE, int8, buckets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844-dim bucketed NNUE + </a:t>
                      </a:r>
                      <a:r>
                        <a:rPr sz="1600" dirty="0" err="1"/>
                        <a:t>MoE</a:t>
                      </a:r>
                      <a:r>
                        <a:rPr sz="1600" dirty="0"/>
                        <a:t> (8 experts)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RAM layout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TT 512 KB – 1 MiB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TT-dominant </a:t>
                      </a:r>
                      <a:r>
                        <a:rPr sz="1600" dirty="0">
                          <a:effectLst>
                            <a:outerShdw blurRad="50800" dist="50800" dir="5400000" algn="ctr" rotWithShape="0">
                              <a:schemeClr val="accent6">
                                <a:lumMod val="50000"/>
                              </a:schemeClr>
                            </a:outerShdw>
                          </a:effectLst>
                        </a:rPr>
                        <a:t>128–160</a:t>
                      </a:r>
                      <a:r>
                        <a:rPr sz="1600" dirty="0"/>
                        <a:t>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Compression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King mirror, pawn-rank zeros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Same + </a:t>
                      </a:r>
                      <a:r>
                        <a:rPr sz="1600" dirty="0"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</a:rPr>
                        <a:t>gradual</a:t>
                      </a:r>
                      <a:r>
                        <a:rPr sz="1600" dirty="0"/>
                        <a:t> L1 prune 70–80%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Runtime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Cfish / C port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C engine after PC bring-up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9355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Search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LMR, null-move, SPSA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Alpha-beta v0.3 → full stack + SPSA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sardine-fish-isolated-on-a-transparent-background-showcasing-its-shiny-scales-and-streamlined-body-a-sardine-fish-isolated-on-transparent-background-free-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50996">
            <a:off x="736937" y="3688127"/>
            <a:ext cx="2570276" cy="2570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968" y="320040"/>
            <a:ext cx="111556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2800" dirty="0"/>
              <a:t>Evaluation: </a:t>
            </a:r>
            <a:br>
              <a:rPr lang="it-IT" sz="2800" dirty="0"/>
            </a:br>
            <a:r>
              <a:rPr sz="2800" dirty="0"/>
              <a:t>Bucketed </a:t>
            </a:r>
            <a:endParaRPr lang="it-IT" sz="28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2800" dirty="0"/>
              <a:t>NNUE + </a:t>
            </a:r>
            <a:r>
              <a:rPr sz="2800" dirty="0" err="1"/>
              <a:t>MoE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16318" y="2130667"/>
            <a:ext cx="3134208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844 sparse features (716 base + 128 tactical) · dual perspectiv</a:t>
            </a:r>
            <a:r>
              <a:rPr lang="en-US" sz="1600" dirty="0"/>
              <a:t>e</a:t>
            </a:r>
            <a:endParaRPr lang="it-IT" sz="1600" dirty="0"/>
          </a:p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lang="it-IT" sz="1600" dirty="0" err="1"/>
              <a:t>Shared</a:t>
            </a:r>
            <a:r>
              <a:rPr lang="it-IT" sz="1600" dirty="0"/>
              <a:t> L1: 844 </a:t>
            </a:r>
            <a:br>
              <a:rPr lang="it-IT" sz="1600" dirty="0"/>
            </a:br>
            <a:r>
              <a:rPr lang="it-IT" sz="1600" dirty="0"/>
              <a:t>→ W (W=128) · </a:t>
            </a:r>
            <a:r>
              <a:rPr lang="it-IT" sz="1600" dirty="0" err="1"/>
              <a:t>CReLU</a:t>
            </a:r>
            <a:r>
              <a:rPr lang="it-IT" sz="1600" dirty="0"/>
              <a:t> </a:t>
            </a:r>
            <a:r>
              <a:rPr lang="it-IT" sz="1600" dirty="0" err="1"/>
              <a:t>hidden</a:t>
            </a:r>
            <a:r>
              <a:rPr lang="it-IT" sz="1600" dirty="0"/>
              <a:t> · </a:t>
            </a:r>
            <a:r>
              <a:rPr lang="it-IT" sz="1600" dirty="0" err="1"/>
              <a:t>tanh</a:t>
            </a:r>
            <a:r>
              <a:rPr lang="it-IT" sz="1600" dirty="0"/>
              <a:t> LUT </a:t>
            </a:r>
            <a:br>
              <a:rPr lang="it-IT" sz="1600" dirty="0"/>
            </a:br>
            <a:r>
              <a:rPr lang="it-IT" sz="1600" dirty="0"/>
              <a:t>→ </a:t>
            </a:r>
            <a:r>
              <a:rPr lang="it-IT" sz="1600" dirty="0" err="1"/>
              <a:t>expected</a:t>
            </a:r>
            <a:r>
              <a:rPr lang="it-IT" sz="1600" dirty="0"/>
              <a:t> </a:t>
            </a:r>
            <a:r>
              <a:rPr lang="it-IT" sz="1600" dirty="0" err="1"/>
              <a:t>reward</a:t>
            </a:r>
            <a:r>
              <a:rPr lang="it-IT" sz="1600" dirty="0"/>
              <a:t> [−1, +1]</a:t>
            </a:r>
          </a:p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8 expert heads routed by piece count (+ queen-split at p ≤ 12)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BFAE3-9660-D12E-D1FC-3335DC64D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851" y="-23884"/>
            <a:ext cx="86881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Shared L1 Accumulator</a:t>
            </a:r>
          </a:p>
        </p:txBody>
      </p:sp>
      <p:pic>
        <p:nvPicPr>
          <p:cNvPr id="3" name="Picture 2" descr="accumulato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5160"/>
            <a:ext cx="12192000" cy="5302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87752C-EB00-C0AC-1063-8333ED8841F0}"/>
              </a:ext>
            </a:extLst>
          </p:cNvPr>
          <p:cNvSpPr txBox="1"/>
          <p:nvPr/>
        </p:nvSpPr>
        <p:spPr>
          <a:xfrm>
            <a:off x="5679832" y="5231449"/>
            <a:ext cx="5978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Same pruned L1 weights called twice (own POV + mirrored opponent POV)</a:t>
            </a:r>
          </a:p>
          <a:p>
            <a:r>
              <a:rPr lang="en-US" sz="1600" dirty="0"/>
              <a:t>Incremental add/sub on piece moves — bucket-agnostic shared layer</a:t>
            </a:r>
          </a:p>
          <a:p>
            <a:r>
              <a:rPr lang="en-US" sz="1600" dirty="0"/>
              <a:t>Lazy full refresh only when the king crosses the </a:t>
            </a:r>
            <a:r>
              <a:rPr lang="en-US" sz="1600" dirty="0" err="1"/>
              <a:t>centre</a:t>
            </a:r>
            <a:r>
              <a:rPr lang="en-US" sz="1600" dirty="0"/>
              <a:t> fil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Alpha-Beta Search (v0.3)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5303520" cy="50292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4A853"/>
                </a:solidFill>
              </a:defRPr>
            </a:pPr>
            <a:r>
              <a:rPr sz="2800" dirty="0"/>
              <a:t>Implemented now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Fixed-depth </a:t>
            </a:r>
            <a:r>
              <a:rPr sz="2000" dirty="0" err="1"/>
              <a:t>negamax</a:t>
            </a:r>
            <a:r>
              <a:rPr sz="2000" dirty="0"/>
              <a:t> alpha-beta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Capture quiescence at leaf nodes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MVV-LVA move ordering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 err="1"/>
              <a:t>Perft</a:t>
            </a:r>
            <a:r>
              <a:rPr sz="2000" dirty="0"/>
              <a:t> validated: d5 = 4,865,609 nodes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HCE default; NNUE via --eval </a:t>
            </a:r>
            <a:r>
              <a:rPr sz="2000" dirty="0" err="1"/>
              <a:t>nnue</a:t>
            </a:r>
            <a:endParaRPr sz="2000" dirty="0"/>
          </a:p>
        </p:txBody>
      </p:sp>
      <p:sp>
        <p:nvSpPr>
          <p:cNvPr id="4" name="Rectangle 3"/>
          <p:cNvSpPr/>
          <p:nvPr/>
        </p:nvSpPr>
        <p:spPr>
          <a:xfrm>
            <a:off x="6172200" y="1097280"/>
            <a:ext cx="5303520" cy="5029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4A853"/>
                </a:solidFill>
              </a:defRPr>
            </a:pPr>
            <a:r>
              <a:rPr sz="2800" dirty="0">
                <a:solidFill>
                  <a:srgbClr val="CE9D3A"/>
                </a:solidFill>
              </a:rPr>
              <a:t>Roadmap</a:t>
            </a:r>
            <a:endParaRPr sz="2400" dirty="0">
              <a:solidFill>
                <a:srgbClr val="CE9D3A"/>
              </a:solidFill>
            </a:endParaRP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Futility pruning + LMR + null-move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Lazy evaluation (paired with accumulators)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Iterative deepening with stable TT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Killer moves (depth &gt; 4)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SPSA search-parameter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How We Estimate Strength: Stockfish ACPL Gate</a:t>
            </a:r>
          </a:p>
        </p:txBody>
      </p:sp>
      <p:sp>
        <p:nvSpPr>
          <p:cNvPr id="3" name="Oval 2"/>
          <p:cNvSpPr/>
          <p:nvPr/>
        </p:nvSpPr>
        <p:spPr>
          <a:xfrm>
            <a:off x="703544" y="123853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064" y="119281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Engine self-play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N games at fixed depth (currently 16)</a:t>
            </a:r>
          </a:p>
        </p:txBody>
      </p:sp>
      <p:sp>
        <p:nvSpPr>
          <p:cNvPr id="5" name="Oval 4"/>
          <p:cNvSpPr/>
          <p:nvPr/>
        </p:nvSpPr>
        <p:spPr>
          <a:xfrm>
            <a:off x="703544" y="219865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064" y="215293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Stockfish analysis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100 ms/move — judges each played move</a:t>
            </a:r>
          </a:p>
        </p:txBody>
      </p:sp>
      <p:sp>
        <p:nvSpPr>
          <p:cNvPr id="7" name="Oval 6"/>
          <p:cNvSpPr/>
          <p:nvPr/>
        </p:nvSpPr>
        <p:spPr>
          <a:xfrm>
            <a:off x="703544" y="31587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064" y="311305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ACPL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Average centipawn loss vs Stockfish best move</a:t>
            </a:r>
          </a:p>
        </p:txBody>
      </p:sp>
      <p:sp>
        <p:nvSpPr>
          <p:cNvPr id="9" name="Oval 8"/>
          <p:cNvSpPr/>
          <p:nvPr/>
        </p:nvSpPr>
        <p:spPr>
          <a:xfrm>
            <a:off x="703544" y="411889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064" y="407317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Heuristic Elo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Elo ≈ 2855 − ACPL × 10 (floor 400, not FIDE)</a:t>
            </a:r>
          </a:p>
        </p:txBody>
      </p:sp>
      <p:sp>
        <p:nvSpPr>
          <p:cNvPr id="11" name="Oval 10"/>
          <p:cNvSpPr/>
          <p:nvPr/>
        </p:nvSpPr>
        <p:spPr>
          <a:xfrm>
            <a:off x="703544" y="507901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064" y="503329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Final gate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cutechess-cli head-to-head for ≥ 1700 Elo (future)</a:t>
            </a:r>
          </a:p>
        </p:txBody>
      </p:sp>
      <p:pic>
        <p:nvPicPr>
          <p:cNvPr id="13" name="Picture 12" descr="anchovy-isolated-on-transparent-background-file-cut-out-ai-generated-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8031451" y="2932509"/>
            <a:ext cx="3010026" cy="1656461"/>
          </a:xfrm>
          <a:prstGeom prst="rect">
            <a:avLst/>
          </a:prstGeom>
        </p:spPr>
      </p:pic>
      <p:pic>
        <p:nvPicPr>
          <p:cNvPr id="14" name="Picture 13" descr="anchovy-isolated-on-transparent-background-file-cut-out-ai-generated-png.png">
            <a:extLst>
              <a:ext uri="{FF2B5EF4-FFF2-40B4-BE49-F238E27FC236}">
                <a16:creationId xmlns:a16="http://schemas.microsoft.com/office/drawing/2014/main" id="{1D9A283C-D498-8713-51F0-52A896FC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6670842" y="3986076"/>
            <a:ext cx="3814926" cy="2099409"/>
          </a:xfrm>
          <a:prstGeom prst="rect">
            <a:avLst/>
          </a:prstGeom>
        </p:spPr>
      </p:pic>
      <p:pic>
        <p:nvPicPr>
          <p:cNvPr id="15" name="Picture 14" descr="anchovy-isolated-on-transparent-background-file-cut-out-ai-generated-png.png">
            <a:extLst>
              <a:ext uri="{FF2B5EF4-FFF2-40B4-BE49-F238E27FC236}">
                <a16:creationId xmlns:a16="http://schemas.microsoft.com/office/drawing/2014/main" id="{E828280E-7028-5A03-CE4A-56D70928F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6553148" y="2723088"/>
            <a:ext cx="3429390" cy="188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Early Results (16 self-play games, depth 1)</a:t>
            </a:r>
          </a:p>
        </p:txBody>
      </p:sp>
      <p:pic>
        <p:nvPicPr>
          <p:cNvPr id="3" name="Picture 2" descr="acpl_d1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7132320" cy="3701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374903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NNUE pilot ~1465 Elo (ACPL 139) — smoke net, not production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HCE ~400 Elo (ACPL 357) — high variance, gross blunders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Sunfish ~400 Elo (ACPL 1038) — calibration reference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Pilot </a:t>
            </a:r>
            <a:r>
              <a:rPr sz="1600" dirty="0" err="1"/>
              <a:t>val_mse</a:t>
            </a:r>
            <a:r>
              <a:rPr sz="1600" dirty="0"/>
              <a:t> 0.056 · production Lichess+Lc0 train 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159240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844-dim feature encoder (dual POV, 8 buckets, 94 tests)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Search v0.3 (alpha-beta, quiescence, MVV-LVA, </a:t>
            </a:r>
            <a:r>
              <a:rPr dirty="0" err="1"/>
              <a:t>perft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NNUE pilot wired to engine (--eval </a:t>
            </a:r>
            <a:r>
              <a:rPr dirty="0" err="1"/>
              <a:t>nnue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Stockfish ACPL gate + label_positions.py scaffold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</a:t>
            </a:r>
            <a:r>
              <a:rPr dirty="0" err="1"/>
              <a:t>Lichess</a:t>
            </a:r>
            <a:r>
              <a:rPr dirty="0"/>
              <a:t> PGN → FEN + production </a:t>
            </a:r>
            <a:r>
              <a:rPr dirty="0" err="1"/>
              <a:t>nnue-pytorch</a:t>
            </a:r>
            <a:r>
              <a:rPr dirty="0"/>
              <a:t> training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C port to </a:t>
            </a:r>
            <a:r>
              <a:rPr dirty="0" err="1"/>
              <a:t>Wio</a:t>
            </a:r>
            <a:r>
              <a:rPr dirty="0"/>
              <a:t> + incremental accumulators on device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Full search stack + </a:t>
            </a:r>
            <a:r>
              <a:rPr dirty="0" err="1"/>
              <a:t>cutechess</a:t>
            </a:r>
            <a:r>
              <a:rPr dirty="0"/>
              <a:t> Elo gate (≥ 1700)</a:t>
            </a:r>
            <a:endParaRPr lang="it-IT" dirty="0"/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lang="en-US" dirty="0"/>
              <a:t>⬜  Plays online</a:t>
            </a:r>
            <a:endParaRPr dirty="0"/>
          </a:p>
        </p:txBody>
      </p:sp>
      <p:pic>
        <p:nvPicPr>
          <p:cNvPr id="4" name="Picture 3" descr="SARDINE-logo-dark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515" y="4011270"/>
            <a:ext cx="4721145" cy="2284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836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Cusma Fait</cp:lastModifiedBy>
  <cp:revision>6</cp:revision>
  <dcterms:created xsi:type="dcterms:W3CDTF">2013-01-27T09:14:16Z</dcterms:created>
  <dcterms:modified xsi:type="dcterms:W3CDTF">2026-07-17T09:05:31Z</dcterms:modified>
  <cp:category/>
</cp:coreProperties>
</file>