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6958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with the constraint story: we target strong chess on a microcontroller with less RAM than a 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problem viscerally: total RAM is smaller than a single photo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Cite linrock (1st), Approvers (2nd). Consensus: quantized NNUE + TT-heavy RAM + C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ideas as Kaggle winners, scaled down 25× on 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Teacher: Lc0 WDL (expected_reward = W − L). Production training via label_positions.py.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Incremental updates are why NNUE fits MCU budgets.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Search skeleton is playable on PC; device port follows NNUE production 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Method A1 from blueprint. Fast sanity check before expensive cutechess tournaments. Not win-rate vs Sunfish.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Few games → high variance. GIF demos available on request. NNUE d2 still weak until production net + search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honest status: PC pipeline works; device deployment and Elo gate are next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RDINE-logo-dark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233" y="627115"/>
            <a:ext cx="5413343" cy="26190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63575" y="3611880"/>
            <a:ext cx="963436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Trebuchet MS"/>
              </a:defRPr>
            </a:pPr>
            <a:r>
              <a:rPr dirty="0"/>
              <a:t>SARDINE: </a:t>
            </a:r>
            <a:r>
              <a:rPr sz="4000" dirty="0"/>
              <a:t>Chess</a:t>
            </a:r>
            <a:r>
              <a:rPr dirty="0"/>
              <a:t> AI Under Hard Memory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348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  <a:latin typeface="Calibri"/>
              </a:defRPr>
            </a:pPr>
            <a:r>
              <a:rPr dirty="0"/>
              <a:t>Small Artificial RAM-restricted Deep Intelligent Neural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80138" y="4937760"/>
            <a:ext cx="220124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rPr dirty="0"/>
              <a:t>ICTP </a:t>
            </a:r>
            <a:r>
              <a:rPr sz="1600" dirty="0"/>
              <a:t>Internship</a:t>
            </a:r>
            <a:r>
              <a:rPr dirty="0"/>
              <a:t>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The Hardware Ceiling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600489"/>
              </p:ext>
            </p:extLst>
          </p:nvPr>
        </p:nvGraphicFramePr>
        <p:xfrm>
          <a:off x="502920" y="1422782"/>
          <a:ext cx="1097280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99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/>
                        <a:t>Resource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/>
                        <a:t>Wio Terminal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/>
                        <a:t>Why it matters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999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CPU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120 MHz (SAMD51)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Eval latency caps search depth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999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RAM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 dirty="0"/>
                        <a:t>192 KB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TT must dominate; accumulators ~16 KB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999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Flash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512 KB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Weights ~10% after int8 + L1 prune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999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Move budget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~1 second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Urusov ESP32 baseline ~20 kNps (no NNUE)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Target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≥ 1700 Elo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 dirty="0"/>
                        <a:t>Dog (ESP32) proves feasibility at ~320 KB RAM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312920" y="4479196"/>
            <a:ext cx="3566160" cy="1645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D4A853"/>
                </a:solidFill>
              </a:defRPr>
            </a:pPr>
            <a:r>
              <a:t>192 KB RAM</a:t>
            </a:r>
          </a:p>
          <a:p>
            <a:pPr algn="ctr">
              <a:defRPr sz="1400">
                <a:solidFill>
                  <a:srgbClr val="CADCFC"/>
                </a:solidFill>
              </a:defRPr>
            </a:pPr>
            <a:r>
              <a:t>&lt; one JPEG image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What the Kaggle Challenge Taught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558858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Calibri"/>
              </a:defRPr>
            </a:pPr>
            <a:r>
              <a:rPr sz="1600" dirty="0"/>
              <a:t>FIDE &amp; Google Efficient Chess AI — 5 MiB RAM, 64 KiB binary cap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55648"/>
            <a:ext cx="5394960" cy="1828800"/>
          </a:xfrm>
          <a:prstGeom prst="rect">
            <a:avLst/>
          </a:prstGeom>
          <a:solidFill>
            <a:srgbClr val="2A2A2A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D4A853"/>
                </a:solidFill>
                <a:latin typeface="Trebuchet MS"/>
              </a:defRPr>
            </a:pPr>
            <a:r>
              <a:rPr dirty="0"/>
              <a:t>NNUE won at the top</a:t>
            </a:r>
          </a:p>
          <a:p>
            <a:pPr>
              <a:spcBef>
                <a:spcPts val="600"/>
              </a:spcBef>
              <a:defRPr sz="1400">
                <a:solidFill>
                  <a:srgbClr val="CADCFC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Micro int8 nets + king mirroring + geometric zeros beat pure HCE for peak Elo.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755648"/>
            <a:ext cx="5394960" cy="1828800"/>
          </a:xfrm>
          <a:prstGeom prst="rect">
            <a:avLst/>
          </a:prstGeom>
          <a:solidFill>
            <a:srgbClr val="2A2A2A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D4A853"/>
                </a:solidFill>
                <a:latin typeface="Trebuchet MS"/>
              </a:defRPr>
            </a:pPr>
            <a:r>
              <a:rPr dirty="0"/>
              <a:t>RAM = search depth</a:t>
            </a:r>
          </a:p>
          <a:p>
            <a:pPr>
              <a:spcBef>
                <a:spcPts val="600"/>
              </a:spcBef>
              <a:defRPr sz="1400">
                <a:solidFill>
                  <a:srgbClr val="CADCFC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Winners gutted history/hash tables to free 512 KB–1 MiB for the transposition table.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858768"/>
            <a:ext cx="5394960" cy="1828800"/>
          </a:xfrm>
          <a:prstGeom prst="rect">
            <a:avLst/>
          </a:prstGeom>
          <a:solidFill>
            <a:srgbClr val="2A2A2A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D4A853"/>
                </a:solidFill>
                <a:latin typeface="Trebuchet MS"/>
              </a:defRPr>
            </a:pPr>
            <a:r>
              <a:rPr dirty="0"/>
              <a:t>Buckets help</a:t>
            </a:r>
          </a:p>
          <a:p>
            <a:pPr>
              <a:spcBef>
                <a:spcPts val="600"/>
              </a:spcBef>
              <a:defRPr sz="1400">
                <a:solidFill>
                  <a:srgbClr val="CADCFC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2nd place Approvers: 8 output buckets by piece count in ~45 KB net</a:t>
            </a:r>
            <a:r>
              <a:rPr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3858768"/>
            <a:ext cx="5394960" cy="1828800"/>
          </a:xfrm>
          <a:prstGeom prst="rect">
            <a:avLst/>
          </a:prstGeom>
          <a:solidFill>
            <a:srgbClr val="2A2A2A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D4A853"/>
                </a:solidFill>
                <a:latin typeface="Trebuchet MS"/>
              </a:defRPr>
            </a:pPr>
            <a:r>
              <a:rPr dirty="0"/>
              <a:t>C over C++</a:t>
            </a:r>
          </a:p>
          <a:p>
            <a:pPr>
              <a:spcBef>
                <a:spcPts val="600"/>
              </a:spcBef>
              <a:defRPr sz="1400">
                <a:solidFill>
                  <a:srgbClr val="CADCFC"/>
                </a:solidFill>
                <a:latin typeface="Calibri"/>
              </a:defRPr>
            </a:pPr>
            <a:r>
              <a:rPr dirty="0" err="1">
                <a:solidFill>
                  <a:schemeClr val="bg1"/>
                </a:solidFill>
              </a:rPr>
              <a:t>Cfish</a:t>
            </a:r>
            <a:r>
              <a:rPr dirty="0">
                <a:solidFill>
                  <a:schemeClr val="bg1"/>
                </a:solidFill>
              </a:rPr>
              <a:t> base — lower runtime overhead; informs SARDINE's planned C 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160" y="1118434"/>
            <a:ext cx="111556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rPr sz="3600" dirty="0"/>
              <a:t>Design </a:t>
            </a:r>
            <a:endParaRPr lang="it-IT" sz="3600" dirty="0"/>
          </a:p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rPr sz="3600" dirty="0"/>
              <a:t>Principles </a:t>
            </a:r>
            <a:endParaRPr lang="it-IT" sz="3600" dirty="0"/>
          </a:p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rPr sz="3600" dirty="0"/>
              <a:t>We Adopted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752306"/>
              </p:ext>
            </p:extLst>
          </p:nvPr>
        </p:nvGraphicFramePr>
        <p:xfrm>
          <a:off x="4005619" y="12284"/>
          <a:ext cx="8186382" cy="6845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43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93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 dirty="0"/>
                        <a:t>Principle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/>
                        <a:t>Kaggle (5 MiB)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/>
                        <a:t>SARDINE (192 KB)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8999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 dirty="0"/>
                        <a:t>Eval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Micro NNUE, int8, buckets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844-dim bucketed NNUE + MoE (8 experts)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93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 dirty="0"/>
                        <a:t>RAM layout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 dirty="0"/>
                        <a:t>TT 512 KB – 1 MiB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TT-dominant 128–160 KB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93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Compression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 dirty="0"/>
                        <a:t>King mirror, pawn-rank zeros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 dirty="0"/>
                        <a:t>Same + gradual L1 prune 70–80%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3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Runtime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Cfish / C port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 dirty="0"/>
                        <a:t>C engine after PC bring-up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9355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Search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/>
                        <a:t>LMR, null-move, SPSA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ADCFC"/>
                          </a:solidFill>
                          <a:latin typeface="Calibri"/>
                        </a:defRPr>
                      </a:pPr>
                      <a:r>
                        <a:rPr sz="1600" dirty="0"/>
                        <a:t>Alpha-beta v0.3 → full stack + SPSA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Picture 3" descr="sardine-fish-isolated-on-a-transparent-background-showcasing-its-shiny-scales-and-streamlined-body-a-sardine-fish-isolated-on-transparent-background-free-p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650996">
            <a:off x="736937" y="3688127"/>
            <a:ext cx="2570276" cy="25702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5968" y="320040"/>
            <a:ext cx="111556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rPr sz="2800" dirty="0"/>
              <a:t>Evaluation: </a:t>
            </a:r>
            <a:br>
              <a:rPr lang="it-IT" sz="2800" dirty="0"/>
            </a:br>
            <a:r>
              <a:rPr sz="2800" dirty="0"/>
              <a:t>Bucketed </a:t>
            </a:r>
            <a:endParaRPr lang="it-IT" sz="2800" dirty="0"/>
          </a:p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rPr sz="2800" dirty="0"/>
              <a:t>NNUE + </a:t>
            </a:r>
            <a:r>
              <a:rPr sz="2800" dirty="0" err="1"/>
              <a:t>MoE</a:t>
            </a:r>
            <a:endParaRPr sz="2800" dirty="0"/>
          </a:p>
        </p:txBody>
      </p:sp>
      <p:pic>
        <p:nvPicPr>
          <p:cNvPr id="3" name="Picture 2" descr="sardine_nnue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3260" y="1"/>
            <a:ext cx="8288741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318" y="2130667"/>
            <a:ext cx="3134208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Tx/>
              <a:buChar char="-"/>
              <a:defRPr sz="1400">
                <a:solidFill>
                  <a:srgbClr val="CADCFC"/>
                </a:solidFill>
                <a:latin typeface="Calibri"/>
              </a:defRPr>
            </a:pPr>
            <a:r>
              <a:rPr sz="1600" dirty="0"/>
              <a:t>844 sparse features (716 base + 128 tactical) · dual perspectiv</a:t>
            </a:r>
            <a:r>
              <a:rPr lang="en-US" sz="1600" dirty="0"/>
              <a:t>e</a:t>
            </a:r>
            <a:endParaRPr lang="it-IT" sz="1600" dirty="0"/>
          </a:p>
          <a:p>
            <a:pPr marL="285750" indent="-285750">
              <a:spcAft>
                <a:spcPts val="800"/>
              </a:spcAft>
              <a:buFontTx/>
              <a:buChar char="-"/>
              <a:defRPr sz="1400">
                <a:solidFill>
                  <a:srgbClr val="CADCFC"/>
                </a:solidFill>
                <a:latin typeface="Calibri"/>
              </a:defRPr>
            </a:pPr>
            <a:r>
              <a:rPr lang="it-IT" sz="1600" dirty="0" err="1"/>
              <a:t>Shared</a:t>
            </a:r>
            <a:r>
              <a:rPr lang="it-IT" sz="1600" dirty="0"/>
              <a:t> L1: 844 </a:t>
            </a:r>
            <a:br>
              <a:rPr lang="it-IT" sz="1600" dirty="0"/>
            </a:br>
            <a:r>
              <a:rPr lang="it-IT" sz="1600" dirty="0"/>
              <a:t>→ W (W=128) · </a:t>
            </a:r>
            <a:r>
              <a:rPr lang="it-IT" sz="1600" dirty="0" err="1"/>
              <a:t>CReLU</a:t>
            </a:r>
            <a:r>
              <a:rPr lang="it-IT" sz="1600" dirty="0"/>
              <a:t> </a:t>
            </a:r>
            <a:r>
              <a:rPr lang="it-IT" sz="1600" dirty="0" err="1"/>
              <a:t>hidden</a:t>
            </a:r>
            <a:r>
              <a:rPr lang="it-IT" sz="1600" dirty="0"/>
              <a:t> · </a:t>
            </a:r>
            <a:r>
              <a:rPr lang="it-IT" sz="1600" dirty="0" err="1"/>
              <a:t>tanh</a:t>
            </a:r>
            <a:r>
              <a:rPr lang="it-IT" sz="1600" dirty="0"/>
              <a:t> LUT </a:t>
            </a:r>
            <a:br>
              <a:rPr lang="it-IT" sz="1600" dirty="0"/>
            </a:br>
            <a:r>
              <a:rPr lang="it-IT" sz="1600" dirty="0"/>
              <a:t>→ </a:t>
            </a:r>
            <a:r>
              <a:rPr lang="it-IT" sz="1600" dirty="0" err="1"/>
              <a:t>expected</a:t>
            </a:r>
            <a:r>
              <a:rPr lang="it-IT" sz="1600" dirty="0"/>
              <a:t> </a:t>
            </a:r>
            <a:r>
              <a:rPr lang="it-IT" sz="1600" dirty="0" err="1"/>
              <a:t>reward</a:t>
            </a:r>
            <a:r>
              <a:rPr lang="it-IT" sz="1600" dirty="0"/>
              <a:t> [−1, +1]</a:t>
            </a:r>
          </a:p>
          <a:p>
            <a:pPr marL="285750" indent="-285750">
              <a:spcAft>
                <a:spcPts val="800"/>
              </a:spcAft>
              <a:buFontTx/>
              <a:buChar char="-"/>
              <a:defRPr sz="1400">
                <a:solidFill>
                  <a:srgbClr val="CADCFC"/>
                </a:solidFill>
                <a:latin typeface="Calibri"/>
              </a:defRPr>
            </a:pPr>
            <a:r>
              <a:rPr sz="1600" dirty="0"/>
              <a:t>8 expert heads routed by piece count (+ queen-split at p ≤ 12)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Shared L1 Accumulator</a:t>
            </a:r>
          </a:p>
        </p:txBody>
      </p:sp>
      <p:pic>
        <p:nvPicPr>
          <p:cNvPr id="3" name="Picture 2" descr="accumulator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5160"/>
            <a:ext cx="12192000" cy="53028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87752C-EB00-C0AC-1063-8333ED8841F0}"/>
              </a:ext>
            </a:extLst>
          </p:cNvPr>
          <p:cNvSpPr txBox="1"/>
          <p:nvPr/>
        </p:nvSpPr>
        <p:spPr>
          <a:xfrm>
            <a:off x="5679832" y="5231449"/>
            <a:ext cx="59787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Same pruned L1 weights called twice (own POV + mirrored opponent POV)</a:t>
            </a:r>
          </a:p>
          <a:p>
            <a:r>
              <a:rPr lang="en-US" sz="1600" dirty="0"/>
              <a:t>Incremental add/sub on piece moves — bucket-agnostic shared layer</a:t>
            </a:r>
          </a:p>
          <a:p>
            <a:r>
              <a:rPr lang="en-US" sz="1600" dirty="0"/>
              <a:t>Lazy full refresh only when the king crosses the </a:t>
            </a:r>
            <a:r>
              <a:rPr lang="en-US" sz="1600" dirty="0" err="1"/>
              <a:t>centre</a:t>
            </a:r>
            <a:r>
              <a:rPr lang="en-US" sz="1600" dirty="0"/>
              <a:t> fil</a:t>
            </a:r>
          </a:p>
          <a:p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Alpha-Beta Search (v0.3)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5303520" cy="5029200"/>
          </a:xfrm>
          <a:prstGeom prst="rect">
            <a:avLst/>
          </a:prstGeom>
          <a:solidFill>
            <a:srgbClr val="2A2A2A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D4A853"/>
                </a:solidFill>
              </a:defRPr>
            </a:pPr>
            <a:r>
              <a:rPr sz="2400" dirty="0"/>
              <a:t>Implemented now</a:t>
            </a:r>
          </a:p>
          <a:p>
            <a:pPr algn="ctr">
              <a:defRPr sz="1400">
                <a:solidFill>
                  <a:srgbClr val="CADCFC"/>
                </a:solidFill>
              </a:defRPr>
            </a:pPr>
            <a:r>
              <a:rPr sz="2000" dirty="0"/>
              <a:t>Fixed-depth </a:t>
            </a:r>
            <a:r>
              <a:rPr sz="2000" dirty="0" err="1"/>
              <a:t>negamax</a:t>
            </a:r>
            <a:r>
              <a:rPr sz="2000" dirty="0"/>
              <a:t> alpha-beta</a:t>
            </a:r>
          </a:p>
          <a:p>
            <a:pPr algn="ctr">
              <a:defRPr sz="1400">
                <a:solidFill>
                  <a:srgbClr val="CADCFC"/>
                </a:solidFill>
              </a:defRPr>
            </a:pPr>
            <a:r>
              <a:rPr sz="2000" dirty="0"/>
              <a:t>Capture quiescence at leaf nodes</a:t>
            </a:r>
          </a:p>
          <a:p>
            <a:pPr algn="ctr">
              <a:defRPr sz="1400">
                <a:solidFill>
                  <a:srgbClr val="CADCFC"/>
                </a:solidFill>
              </a:defRPr>
            </a:pPr>
            <a:r>
              <a:rPr sz="2000" dirty="0"/>
              <a:t>MVV-LVA move ordering</a:t>
            </a:r>
          </a:p>
          <a:p>
            <a:pPr algn="ctr">
              <a:defRPr sz="1400">
                <a:solidFill>
                  <a:srgbClr val="CADCFC"/>
                </a:solidFill>
              </a:defRPr>
            </a:pPr>
            <a:r>
              <a:rPr sz="2000" dirty="0" err="1"/>
              <a:t>Perft</a:t>
            </a:r>
            <a:r>
              <a:rPr sz="2000" dirty="0"/>
              <a:t> validated: d5 = 4,865,609 nodes</a:t>
            </a:r>
          </a:p>
          <a:p>
            <a:pPr algn="ctr">
              <a:defRPr sz="1400">
                <a:solidFill>
                  <a:srgbClr val="CADCFC"/>
                </a:solidFill>
              </a:defRPr>
            </a:pPr>
            <a:r>
              <a:rPr sz="2000" dirty="0"/>
              <a:t>HCE default; NNUE via --eval </a:t>
            </a:r>
            <a:r>
              <a:rPr sz="2000" dirty="0" err="1"/>
              <a:t>nnue</a:t>
            </a:r>
            <a:endParaRPr sz="2000" dirty="0"/>
          </a:p>
        </p:txBody>
      </p:sp>
      <p:sp>
        <p:nvSpPr>
          <p:cNvPr id="4" name="Rectangle 3"/>
          <p:cNvSpPr/>
          <p:nvPr/>
        </p:nvSpPr>
        <p:spPr>
          <a:xfrm>
            <a:off x="6172200" y="1097280"/>
            <a:ext cx="5303520" cy="5029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D4A853"/>
                </a:solidFill>
              </a:defRPr>
            </a:pPr>
            <a:r>
              <a:rPr sz="2400" dirty="0"/>
              <a:t>Roadmap</a:t>
            </a:r>
          </a:p>
          <a:p>
            <a:pPr algn="ctr">
              <a:defRPr sz="1400">
                <a:solidFill>
                  <a:srgbClr val="CADCFC"/>
                </a:solidFill>
              </a:defRPr>
            </a:pPr>
            <a:r>
              <a:rPr sz="2000" dirty="0"/>
              <a:t>Futility pruning + LMR + null-move</a:t>
            </a:r>
          </a:p>
          <a:p>
            <a:pPr algn="ctr">
              <a:defRPr sz="1400">
                <a:solidFill>
                  <a:srgbClr val="CADCFC"/>
                </a:solidFill>
              </a:defRPr>
            </a:pPr>
            <a:r>
              <a:rPr sz="2000" dirty="0"/>
              <a:t>Lazy evaluation (paired with accumulators)</a:t>
            </a:r>
          </a:p>
          <a:p>
            <a:pPr algn="ctr">
              <a:defRPr sz="1400">
                <a:solidFill>
                  <a:srgbClr val="CADCFC"/>
                </a:solidFill>
              </a:defRPr>
            </a:pPr>
            <a:r>
              <a:rPr sz="2000" dirty="0"/>
              <a:t>Iterative deepening with stable TT</a:t>
            </a:r>
          </a:p>
          <a:p>
            <a:pPr algn="ctr">
              <a:defRPr sz="1400">
                <a:solidFill>
                  <a:srgbClr val="CADCFC"/>
                </a:solidFill>
              </a:defRPr>
            </a:pPr>
            <a:r>
              <a:rPr sz="2000" dirty="0"/>
              <a:t>Killer moves (depth &gt; 4)</a:t>
            </a:r>
          </a:p>
          <a:p>
            <a:pPr algn="ctr">
              <a:defRPr sz="1400">
                <a:solidFill>
                  <a:srgbClr val="CADCFC"/>
                </a:solidFill>
              </a:defRPr>
            </a:pPr>
            <a:r>
              <a:rPr sz="2000" dirty="0"/>
              <a:t>SPSA search-parameter tuning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How We Estimate Strength: Stockfish ACPL Gate</a:t>
            </a:r>
          </a:p>
        </p:txBody>
      </p:sp>
      <p:sp>
        <p:nvSpPr>
          <p:cNvPr id="3" name="Oval 2"/>
          <p:cNvSpPr/>
          <p:nvPr/>
        </p:nvSpPr>
        <p:spPr>
          <a:xfrm>
            <a:off x="703544" y="1238536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064" y="1192816"/>
            <a:ext cx="59893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Trebuchet MS"/>
              </a:defRPr>
            </a:pPr>
            <a:r>
              <a:t>Engine self-play</a:t>
            </a:r>
          </a:p>
          <a:p>
            <a:pPr>
              <a:defRPr sz="1300">
                <a:solidFill>
                  <a:srgbClr val="CADCFC"/>
                </a:solidFill>
                <a:latin typeface="Calibri"/>
              </a:defRPr>
            </a:pPr>
            <a:r>
              <a:rPr sz="1600"/>
              <a:t>N games at fixed depth (currently 16)</a:t>
            </a:r>
          </a:p>
        </p:txBody>
      </p:sp>
      <p:sp>
        <p:nvSpPr>
          <p:cNvPr id="5" name="Oval 4"/>
          <p:cNvSpPr/>
          <p:nvPr/>
        </p:nvSpPr>
        <p:spPr>
          <a:xfrm>
            <a:off x="703544" y="2198656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064" y="2152936"/>
            <a:ext cx="59893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Trebuchet MS"/>
              </a:defRPr>
            </a:pPr>
            <a:r>
              <a:t>Stockfish analysis</a:t>
            </a:r>
          </a:p>
          <a:p>
            <a:pPr>
              <a:defRPr sz="1300">
                <a:solidFill>
                  <a:srgbClr val="CADCFC"/>
                </a:solidFill>
                <a:latin typeface="Calibri"/>
              </a:defRPr>
            </a:pPr>
            <a:r>
              <a:rPr sz="1600"/>
              <a:t>100 ms/move — judges each played move</a:t>
            </a:r>
          </a:p>
        </p:txBody>
      </p:sp>
      <p:sp>
        <p:nvSpPr>
          <p:cNvPr id="7" name="Oval 6"/>
          <p:cNvSpPr/>
          <p:nvPr/>
        </p:nvSpPr>
        <p:spPr>
          <a:xfrm>
            <a:off x="703544" y="3158776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064" y="3113056"/>
            <a:ext cx="59893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Trebuchet MS"/>
              </a:defRPr>
            </a:pPr>
            <a:r>
              <a:t>ACPL</a:t>
            </a:r>
          </a:p>
          <a:p>
            <a:pPr>
              <a:defRPr sz="1300">
                <a:solidFill>
                  <a:srgbClr val="CADCFC"/>
                </a:solidFill>
                <a:latin typeface="Calibri"/>
              </a:defRPr>
            </a:pPr>
            <a:r>
              <a:rPr sz="1600"/>
              <a:t>Average centipawn loss vs Stockfish best move</a:t>
            </a:r>
          </a:p>
        </p:txBody>
      </p:sp>
      <p:sp>
        <p:nvSpPr>
          <p:cNvPr id="9" name="Oval 8"/>
          <p:cNvSpPr/>
          <p:nvPr/>
        </p:nvSpPr>
        <p:spPr>
          <a:xfrm>
            <a:off x="703544" y="4118896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064" y="4073176"/>
            <a:ext cx="59893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Trebuchet MS"/>
              </a:defRPr>
            </a:pPr>
            <a:r>
              <a:t>Heuristic Elo</a:t>
            </a:r>
          </a:p>
          <a:p>
            <a:pPr>
              <a:defRPr sz="1300">
                <a:solidFill>
                  <a:srgbClr val="CADCFC"/>
                </a:solidFill>
                <a:latin typeface="Calibri"/>
              </a:defRPr>
            </a:pPr>
            <a:r>
              <a:rPr sz="1600"/>
              <a:t>Elo ≈ 2855 − ACPL × 10 (floor 400, not FIDE)</a:t>
            </a:r>
          </a:p>
        </p:txBody>
      </p:sp>
      <p:sp>
        <p:nvSpPr>
          <p:cNvPr id="11" name="Oval 10"/>
          <p:cNvSpPr/>
          <p:nvPr/>
        </p:nvSpPr>
        <p:spPr>
          <a:xfrm>
            <a:off x="703544" y="5079016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064" y="5033296"/>
            <a:ext cx="59893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Trebuchet MS"/>
              </a:defRPr>
            </a:pPr>
            <a:r>
              <a:t>Final gate</a:t>
            </a:r>
          </a:p>
          <a:p>
            <a:pPr>
              <a:defRPr sz="1300">
                <a:solidFill>
                  <a:srgbClr val="CADCFC"/>
                </a:solidFill>
                <a:latin typeface="Calibri"/>
              </a:defRPr>
            </a:pPr>
            <a:r>
              <a:rPr sz="1600"/>
              <a:t>cutechess-cli head-to-head for ≥ 1700 Elo (future)</a:t>
            </a:r>
          </a:p>
        </p:txBody>
      </p:sp>
      <p:pic>
        <p:nvPicPr>
          <p:cNvPr id="13" name="Picture 12" descr="anchovy-isolated-on-transparent-background-file-cut-out-ai-generated-p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836263">
            <a:off x="8031451" y="2932509"/>
            <a:ext cx="3010026" cy="1656461"/>
          </a:xfrm>
          <a:prstGeom prst="rect">
            <a:avLst/>
          </a:prstGeom>
        </p:spPr>
      </p:pic>
      <p:pic>
        <p:nvPicPr>
          <p:cNvPr id="14" name="Picture 13" descr="anchovy-isolated-on-transparent-background-file-cut-out-ai-generated-png.png">
            <a:extLst>
              <a:ext uri="{FF2B5EF4-FFF2-40B4-BE49-F238E27FC236}">
                <a16:creationId xmlns:a16="http://schemas.microsoft.com/office/drawing/2014/main" id="{1D9A283C-D498-8713-51F0-52A896FC9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836263">
            <a:off x="6670842" y="3986076"/>
            <a:ext cx="3814926" cy="2099409"/>
          </a:xfrm>
          <a:prstGeom prst="rect">
            <a:avLst/>
          </a:prstGeom>
        </p:spPr>
      </p:pic>
      <p:pic>
        <p:nvPicPr>
          <p:cNvPr id="15" name="Picture 14" descr="anchovy-isolated-on-transparent-background-file-cut-out-ai-generated-png.png">
            <a:extLst>
              <a:ext uri="{FF2B5EF4-FFF2-40B4-BE49-F238E27FC236}">
                <a16:creationId xmlns:a16="http://schemas.microsoft.com/office/drawing/2014/main" id="{E828280E-7028-5A03-CE4A-56D70928F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836263">
            <a:off x="6553148" y="2723088"/>
            <a:ext cx="3429390" cy="18872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Early Results (16 self-play games, depth 1)</a:t>
            </a:r>
          </a:p>
        </p:txBody>
      </p:sp>
      <p:pic>
        <p:nvPicPr>
          <p:cNvPr id="3" name="Picture 2" descr="acpl_d1_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7132320" cy="37015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3840" y="1280160"/>
            <a:ext cx="3749039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ADCFC"/>
                </a:solidFill>
                <a:latin typeface="Calibri"/>
              </a:defRPr>
            </a:pPr>
            <a:r>
              <a:rPr sz="1600" dirty="0"/>
              <a:t>NNUE pilot ~1465 Elo (ACPL 139) — smoke net, not production</a:t>
            </a:r>
          </a:p>
          <a:p>
            <a:pPr>
              <a:spcAft>
                <a:spcPts val="800"/>
              </a:spcAft>
              <a:defRPr sz="1300">
                <a:solidFill>
                  <a:srgbClr val="CADCFC"/>
                </a:solidFill>
                <a:latin typeface="Calibri"/>
              </a:defRPr>
            </a:pPr>
            <a:r>
              <a:rPr sz="1600" dirty="0"/>
              <a:t>HCE ~400 Elo (ACPL 357) — high variance, gross blunders</a:t>
            </a:r>
          </a:p>
          <a:p>
            <a:pPr>
              <a:spcAft>
                <a:spcPts val="800"/>
              </a:spcAft>
              <a:defRPr sz="1300">
                <a:solidFill>
                  <a:srgbClr val="CADCFC"/>
                </a:solidFill>
                <a:latin typeface="Calibri"/>
              </a:defRPr>
            </a:pPr>
            <a:r>
              <a:rPr sz="1600" dirty="0"/>
              <a:t>Sunfish ~400 Elo (ACPL 1038) — calibration reference</a:t>
            </a:r>
          </a:p>
          <a:p>
            <a:pPr>
              <a:spcAft>
                <a:spcPts val="800"/>
              </a:spcAft>
              <a:defRPr sz="1300">
                <a:solidFill>
                  <a:srgbClr val="CADCFC"/>
                </a:solidFill>
                <a:latin typeface="Calibri"/>
              </a:defRPr>
            </a:pPr>
            <a:r>
              <a:rPr sz="1600" dirty="0"/>
              <a:t>Pilot </a:t>
            </a:r>
            <a:r>
              <a:rPr sz="1600" dirty="0" err="1"/>
              <a:t>val_mse</a:t>
            </a:r>
            <a:r>
              <a:rPr sz="1600" dirty="0"/>
              <a:t> 0.056 · production Lichess+Lc0 train pending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Status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7772400" cy="3082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rPr dirty="0"/>
              <a:t>✅  844-dim feature encoder (dual POV, 8 buckets, 94 tests)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rPr dirty="0"/>
              <a:t>✅  Search v0.3 (alpha-beta, quiescence, MVV-LVA, </a:t>
            </a:r>
            <a:r>
              <a:rPr dirty="0" err="1"/>
              <a:t>perft</a:t>
            </a:r>
            <a:r>
              <a:rPr dirty="0"/>
              <a:t>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rPr dirty="0"/>
              <a:t>✅  NNUE pilot wired to engine (--eval </a:t>
            </a:r>
            <a:r>
              <a:rPr dirty="0" err="1"/>
              <a:t>nnue</a:t>
            </a:r>
            <a:r>
              <a:rPr dirty="0"/>
              <a:t>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rPr dirty="0"/>
              <a:t>✅  Stockfish ACPL gate + label_positions.py scaffold</a:t>
            </a:r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rPr dirty="0"/>
              <a:t>⬜  </a:t>
            </a:r>
            <a:r>
              <a:rPr dirty="0" err="1"/>
              <a:t>Lichess</a:t>
            </a:r>
            <a:r>
              <a:rPr dirty="0"/>
              <a:t> PGN → FEN + production </a:t>
            </a:r>
            <a:r>
              <a:rPr dirty="0" err="1"/>
              <a:t>nnue-pytorch</a:t>
            </a:r>
            <a:r>
              <a:rPr dirty="0"/>
              <a:t> training</a:t>
            </a:r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rPr dirty="0"/>
              <a:t>⬜  C port to </a:t>
            </a:r>
            <a:r>
              <a:rPr dirty="0" err="1"/>
              <a:t>Wio</a:t>
            </a:r>
            <a:r>
              <a:rPr dirty="0"/>
              <a:t> + incremental accumulators on device</a:t>
            </a:r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rPr dirty="0"/>
              <a:t>⬜  Full search stack + </a:t>
            </a:r>
            <a:r>
              <a:rPr dirty="0" err="1"/>
              <a:t>cutechess</a:t>
            </a:r>
            <a:r>
              <a:rPr dirty="0"/>
              <a:t> Elo gate (≥ 1700)</a:t>
            </a:r>
            <a:endParaRPr lang="it-IT" dirty="0"/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rPr lang="en-US" dirty="0"/>
              <a:t>⬜  </a:t>
            </a:r>
            <a:r>
              <a:rPr lang="en-US"/>
              <a:t>Plays online</a:t>
            </a:r>
            <a:endParaRPr dirty="0"/>
          </a:p>
        </p:txBody>
      </p:sp>
      <p:pic>
        <p:nvPicPr>
          <p:cNvPr id="4" name="Picture 3" descr="SARDINE-logo-dark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295" y="3343702"/>
            <a:ext cx="4721145" cy="22841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4A3B8"/>
                </a:solidFill>
                <a:latin typeface="Calibri"/>
              </a:defRPr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836</Words>
  <Application>Microsoft Office PowerPoint</Application>
  <PresentationFormat>Widescreen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Omar Cusma Fait</cp:lastModifiedBy>
  <cp:revision>5</cp:revision>
  <dcterms:created xsi:type="dcterms:W3CDTF">2013-01-27T09:14:16Z</dcterms:created>
  <dcterms:modified xsi:type="dcterms:W3CDTF">2026-07-13T09:37:38Z</dcterms:modified>
  <cp:category/>
</cp:coreProperties>
</file>